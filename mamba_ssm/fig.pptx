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53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95C49-6312-40C4-B904-7AF2C0CD6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87E8D7-4FC6-4E33-824B-5EB9AFAE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821611-7142-474C-BBB4-B9A2A9DA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C5C1D3-79DB-41F1-B74E-C01AB5D2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7D11EB-5DB2-47E1-9174-D18D8F8C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45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018130-51FB-41FA-92CD-50BBC556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70D721-5D83-4392-9233-4646D3953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41E357-DF8A-4A2C-B57C-594CFB8D0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D15A4-2443-4545-B732-6E6CD91E7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067D7E-5BBE-476B-97DA-E77DF6C9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822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C0192-F8A9-4335-819B-8CE9DAB1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D1D78-8FAA-4066-85D3-634DA15F3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48D502-0350-446E-91ED-EB9E6B07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807BBB-4CA0-4C36-9D0E-D15DB9ED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98B790-B72C-424A-B9FA-074116D7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81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0E6C2-250A-492B-97ED-9D2C8862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20F883-E80C-4F8C-BB50-597E6D20B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48D207-545E-44BA-8B9A-547D2FA35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59A6C0-9FAD-479D-A1A1-7753D72B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B21A01-6FDA-49B5-9C00-643B61438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4E6150-6C09-43C0-BF6E-96F65FC9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558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9EDBA-A1EE-41FA-8BEB-A0D39FB20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30CD92-F3E5-457C-B1A8-F507A4B05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BD8CAF-538F-45B4-82D7-E2736836F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C1333D-6C29-441E-8F94-0AD885ED1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4EFE04-ECCE-4FA4-9666-B44C11D3B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CCC53B-8DEF-45C8-9723-E633EE3FD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77578D-DEB1-485E-95DA-17F15D13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93B358-EE26-4F36-8A5C-150AB517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57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3DB51-6E0E-418C-A4AC-E1D48493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19A0AD-3494-48A2-BFBF-87FF34205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8233C8-FEEB-4007-A85F-C22922E4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5F7A86-45E0-4DCA-99E4-4A3C728F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42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5C48F0-9BC8-4211-A388-89400A09A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8377B2-54B0-4BA1-A9EC-40AF93A6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C5563D-5E37-412C-A9C8-2C07427B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51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954A8-C421-4033-82E1-4E1CE09BD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7DBE91-000E-4570-A0BF-66270C85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4AF94E-8D88-46AF-BB59-71E694636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1F8576-DC8D-4B11-A791-28E9153B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23AB14-EBD6-46A9-BCAE-3BB2962B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EAD723-7785-4530-93D0-0998EBD4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391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16A81-8186-407C-A61E-E20859BA4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818E7E-E3F0-4117-8B33-FF443B592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6DD22F-611C-4B03-B5A9-06D876F9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9D74C6-D27C-49E3-8397-FD014E4A3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3B92FF-6E2D-4B2E-9928-A8D59F31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9CC463-BF36-41A2-9784-0B423C47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44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7684D-9190-416F-BE45-8F1CFC4A4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F50528-BF79-4772-AFB6-CF8A7CD5B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69550C-07DB-4550-85C1-122CA9BA4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83C9FC-78DB-47E7-B4F5-C68E79D1B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90C59-66E8-4C1D-ACC0-A6A4487A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511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EAC3F7-1422-48B0-807B-0C1F3531F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23BAE8-FBFE-46E7-85F2-08B8980C4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260BAB-B7CC-498B-AFA7-30A7A24BA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0EFC25-06C5-47C7-A1E2-D82013AF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5C3281-4BFC-41D3-BB03-0BAE9977A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9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AAE610-3B19-429F-8F58-68DDA29FA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DF9923-B8D4-42D9-9FF9-93872D574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04AB7F-E71A-486F-BECA-770B6738F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920AB-40BA-4CB0-A61A-BE8C23E29A37}" type="datetimeFigureOut">
              <a:rPr lang="zh-CN" altLang="en-US" smtClean="0"/>
              <a:t>2026/2/7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374D15-3887-4BCC-860B-94EC1988F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44A6C2-E0F6-4F72-8F10-9023A490E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0EEA7-580F-47D2-A29E-8AF7A8468A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09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4D9F9AF0-A3BF-40EB-A183-8B2E112C1E85}"/>
              </a:ext>
            </a:extLst>
          </p:cNvPr>
          <p:cNvSpPr/>
          <p:nvPr/>
        </p:nvSpPr>
        <p:spPr>
          <a:xfrm>
            <a:off x="-7241833" y="-2861340"/>
            <a:ext cx="20290055" cy="114636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ABD0719-2BBD-4EDD-A3B4-2D6E43DF94B8}"/>
                  </a:ext>
                </a:extLst>
              </p:cNvPr>
              <p:cNvSpPr/>
              <p:nvPr/>
            </p:nvSpPr>
            <p:spPr>
              <a:xfrm>
                <a:off x="4664211" y="-1021277"/>
                <a:ext cx="2691740" cy="6828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Gradient &amp; Tensors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𝑑𝑜𝑢𝑡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𝑜𝑢𝑡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𝑑𝑡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ABD0719-2BBD-4EDD-A3B4-2D6E43DF94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211" y="-1021277"/>
                <a:ext cx="2691740" cy="682831"/>
              </a:xfrm>
              <a:prstGeom prst="rect">
                <a:avLst/>
              </a:prstGeom>
              <a:blipFill>
                <a:blip r:embed="rId2"/>
                <a:stretch>
                  <a:fillRect t="-87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98F4F7E-5ED5-4F1F-B051-0CA4E0DB141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010081" y="-338446"/>
            <a:ext cx="0" cy="3265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38E5D774-ADBB-4335-B5A0-103C0A45CD99}"/>
              </a:ext>
            </a:extLst>
          </p:cNvPr>
          <p:cNvSpPr/>
          <p:nvPr/>
        </p:nvSpPr>
        <p:spPr>
          <a:xfrm>
            <a:off x="573882" y="0"/>
            <a:ext cx="10821409" cy="140097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293988-1DDD-4CB8-99E1-CD729DD66A97}"/>
              </a:ext>
            </a:extLst>
          </p:cNvPr>
          <p:cNvSpPr txBox="1"/>
          <p:nvPr/>
        </p:nvSpPr>
        <p:spPr>
          <a:xfrm>
            <a:off x="4317846" y="92609"/>
            <a:ext cx="33844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Replay (To save memory)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F13F69-449E-4096-B4E8-AC09A4AAD776}"/>
              </a:ext>
            </a:extLst>
          </p:cNvPr>
          <p:cNvSpPr/>
          <p:nvPr/>
        </p:nvSpPr>
        <p:spPr>
          <a:xfrm>
            <a:off x="638476" y="593597"/>
            <a:ext cx="2691740" cy="6828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Recompute: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 dt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Shape: [batch,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nchunks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nheads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cs]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FAB5CE-6F8C-48E9-BA1D-F66CE0F6C0CF}"/>
              </a:ext>
            </a:extLst>
          </p:cNvPr>
          <p:cNvSpPr/>
          <p:nvPr/>
        </p:nvSpPr>
        <p:spPr>
          <a:xfrm>
            <a:off x="3492509" y="599535"/>
            <a:ext cx="3863442" cy="6828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Recompute: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Shape: [batch,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nchunks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nheads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head_dim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d_state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29BB4F-3993-4C8E-AB26-F1E5AF83C5DF}"/>
              </a:ext>
            </a:extLst>
          </p:cNvPr>
          <p:cNvSpPr/>
          <p:nvPr/>
        </p:nvSpPr>
        <p:spPr>
          <a:xfrm>
            <a:off x="7474700" y="605472"/>
            <a:ext cx="3863442" cy="6828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Recompute: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Shape: [batch,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nchunks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ngroups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cs, cs]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D1CFB01-523F-4690-B65B-2622D1C504E6}"/>
                  </a:ext>
                </a:extLst>
              </p:cNvPr>
              <p:cNvSpPr/>
              <p:nvPr/>
            </p:nvSpPr>
            <p:spPr>
              <a:xfrm>
                <a:off x="8276289" y="1665032"/>
                <a:ext cx="3589453" cy="19569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BK1 (Gate Grads)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Source: 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Fwd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K5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⊙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⊙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𝑆𝑖𝐿𝑈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—————————————</a:t>
                </a:r>
              </a:p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𝑑𝑧</m:t>
                              </m:r>
                              <m:r>
                                <a:rPr lang="en-US" altLang="zh-C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]= 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𝑑𝑜𝑢𝑡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⊙</m:t>
                              </m:r>
                              <m:d>
                                <m:d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𝐷𝑥</m:t>
                                  </m:r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⊙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𝑆𝑖𝐿𝑈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′(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1400">
                                  <a:solidFill>
                                    <a:schemeClr val="tx1"/>
                                  </a:solidFill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𝑑𝑦</m:t>
                              </m:r>
                              <m:r>
                                <a:rPr lang="en-US" altLang="zh-C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]= 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𝑑𝑜𝑢𝑡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⊙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𝑆𝑖𝐿𝑈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𝑑𝐷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,] =∑(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𝑑𝑦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⊙ 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14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Grid: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(cs//M, batch*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nchunks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nheads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D1CFB01-523F-4690-B65B-2622D1C50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289" y="1665032"/>
                <a:ext cx="3589453" cy="1956944"/>
              </a:xfrm>
              <a:prstGeom prst="rect">
                <a:avLst/>
              </a:prstGeom>
              <a:blipFill>
                <a:blip r:embed="rId3"/>
                <a:stretch>
                  <a:fillRect b="-27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52AD9263-56EC-4D81-AF5F-DF859BD0846F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9575547" y="1400974"/>
            <a:ext cx="495469" cy="264058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B1EE342-322E-4FF3-903F-BC795459BAF9}"/>
                  </a:ext>
                </a:extLst>
              </p:cNvPr>
              <p:cNvSpPr/>
              <p:nvPr/>
            </p:nvSpPr>
            <p:spPr>
              <a:xfrm>
                <a:off x="7570279" y="2232366"/>
                <a:ext cx="511583" cy="419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BB1EE342-322E-4FF3-903F-BC795459BA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279" y="2232366"/>
                <a:ext cx="511583" cy="419450"/>
              </a:xfrm>
              <a:prstGeom prst="rect">
                <a:avLst/>
              </a:prstGeom>
              <a:blipFill>
                <a:blip r:embed="rId4"/>
                <a:stretch>
                  <a:fillRect l="-2326" b="-422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B774E87-C5E0-4EEA-97B4-16D4D29A344F}"/>
              </a:ext>
            </a:extLst>
          </p:cNvPr>
          <p:cNvCxnSpPr>
            <a:cxnSpLocks/>
            <a:stCxn id="22" idx="1"/>
            <a:endCxn id="30" idx="3"/>
          </p:cNvCxnSpPr>
          <p:nvPr/>
        </p:nvCxnSpPr>
        <p:spPr>
          <a:xfrm flipH="1">
            <a:off x="7375852" y="2442091"/>
            <a:ext cx="19442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10F273C-B9A9-4F9E-A4CC-5A86A45D39A4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8081862" y="2442091"/>
            <a:ext cx="18459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BC6C376-80CC-4C12-87AC-E600E0EB82DE}"/>
                  </a:ext>
                </a:extLst>
              </p:cNvPr>
              <p:cNvSpPr/>
              <p:nvPr/>
            </p:nvSpPr>
            <p:spPr>
              <a:xfrm>
                <a:off x="2569673" y="1658941"/>
                <a:ext cx="4806179" cy="15662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BK2 (Global States Grads)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Source: Fwd K5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d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</m:d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⊙</m:t>
                    </m:r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𝑠𝑡𝑎𝑡𝑒</m:t>
                    </m:r>
                    <m:sSup>
                      <m:sSupPr>
                        <m:ctrlP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</m:d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𝐶𝐵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US" altLang="zh-CN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altLang="zh-CN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⊙</m:t>
                    </m:r>
                    <m:sSub>
                      <m:sSubPr>
                        <m:ctrlPr>
                          <a:rPr lang="en-US" altLang="zh-CN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Mask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casaul</m:t>
                        </m:r>
                      </m:sub>
                    </m:sSub>
                    <m:r>
                      <a:rPr lang="en-US" altLang="zh-CN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⊙</m:t>
                    </m:r>
                    <m:sSub>
                      <m:sSubPr>
                        <m:ctrlPr>
                          <a:rPr lang="en-US" altLang="zh-CN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decay</m:t>
                        </m:r>
                      </m:sub>
                    </m:sSub>
                  </m:oMath>
                </a14:m>
                <a:endPara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——————————————————————————</a:t>
                </a:r>
              </a:p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𝑑𝑠𝑡𝑎𝑡𝑒𝑠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⊙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Grid: 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(P//M * N//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block_N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batch*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nchunks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nheads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BC6C376-80CC-4C12-87AC-E600E0EB82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673" y="1658941"/>
                <a:ext cx="4806179" cy="1566299"/>
              </a:xfrm>
              <a:prstGeom prst="rect">
                <a:avLst/>
              </a:prstGeom>
              <a:blipFill>
                <a:blip r:embed="rId5"/>
                <a:stretch>
                  <a:fillRect t="-1544" b="-46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0FCB954-DD18-4307-A59E-306892146B84}"/>
                  </a:ext>
                </a:extLst>
              </p:cNvPr>
              <p:cNvSpPr/>
              <p:nvPr/>
            </p:nvSpPr>
            <p:spPr>
              <a:xfrm>
                <a:off x="-3257734" y="3570666"/>
                <a:ext cx="5571615" cy="221564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BK3 (State Passing Grads)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Source:  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Fwd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K3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𝑓𝑖𝑛𝑎𝑙</m:t>
                        </m:r>
                      </m:sup>
                    </m:sSubSup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𝑒𝑛𝑑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⊙</m:t>
                    </m:r>
                    <m:sSubSup>
                      <m:sSubSupPr>
                        <m:ctrlP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C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𝑓𝑖𝑛𝑎𝑙</m:t>
                        </m:r>
                      </m:sup>
                    </m:sSubSup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𝑙𝑜𝑐𝑎𝑙</m:t>
                        </m:r>
                      </m:sup>
                    </m:sSubSup>
                  </m:oMath>
                </a14:m>
                <a:endPara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——————————————————————————————</a:t>
                </a:r>
              </a:p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sSubSup>
                        <m:sSubSup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𝑓𝑖𝑛𝑎𝑙</m:t>
                          </m:r>
                        </m:sup>
                      </m:sSubSup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]=</m:t>
                      </m:r>
                      <m:sSubSup>
                        <m:sSubSup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𝑓𝑖𝑛𝑎𝑙</m:t>
                          </m:r>
                        </m:sup>
                      </m:sSubSup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]⊙</m:t>
                      </m:r>
                      <m:func>
                        <m:func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𝑒𝑛𝑑</m:t>
                                  </m:r>
                                </m:sup>
                              </m:sSubSup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𝑑𝑠𝑡𝑎𝑡𝑒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𝑒𝑛𝑑</m:t>
                          </m:r>
                        </m:sup>
                      </m:sSubSup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[1]=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b>
                        <m:sup/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𝑑𝑠𝑡𝑎𝑡𝑒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⊙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𝑓𝑖𝑛𝑎𝑙</m:t>
                              </m:r>
                            </m:sup>
                          </m:sSub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⊙</m:t>
                          </m:r>
                          <m:r>
                            <m:rPr>
                              <m:sty m:val="p"/>
                            </m:rPr>
                            <a:rPr lang="en-US" altLang="zh-CN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⁡(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𝑒𝑛𝑑</m:t>
                              </m:r>
                            </m:sup>
                          </m:sSubSup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)[1])</m:t>
                          </m:r>
                        </m:e>
                      </m:nary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Grid: 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(P*N//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block_size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batch, 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nheads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0FCB954-DD18-4307-A59E-306892146B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57734" y="3570666"/>
                <a:ext cx="5571615" cy="2215645"/>
              </a:xfrm>
              <a:prstGeom prst="rect">
                <a:avLst/>
              </a:prstGeom>
              <a:blipFill>
                <a:blip r:embed="rId6"/>
                <a:stretch>
                  <a:fillRect b="-3095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2FF0734-8F57-4809-BDD0-11A939AB953C}"/>
                  </a:ext>
                </a:extLst>
              </p:cNvPr>
              <p:cNvSpPr/>
              <p:nvPr/>
            </p:nvSpPr>
            <p:spPr>
              <a:xfrm>
                <a:off x="1357916" y="2232365"/>
                <a:ext cx="955966" cy="419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𝑑𝑠𝑡𝑎𝑡𝑒𝑠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62FF0734-8F57-4809-BDD0-11A939AB9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916" y="2232365"/>
                <a:ext cx="955966" cy="419450"/>
              </a:xfrm>
              <a:prstGeom prst="rect">
                <a:avLst/>
              </a:prstGeom>
              <a:blipFill>
                <a:blip r:embed="rId7"/>
                <a:stretch>
                  <a:fillRect l="-18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ED4902B-E625-4027-A303-DD9229A4B2B2}"/>
              </a:ext>
            </a:extLst>
          </p:cNvPr>
          <p:cNvCxnSpPr>
            <a:cxnSpLocks/>
            <a:stCxn id="30" idx="1"/>
            <a:endCxn id="17" idx="3"/>
          </p:cNvCxnSpPr>
          <p:nvPr/>
        </p:nvCxnSpPr>
        <p:spPr>
          <a:xfrm flipH="1" flipV="1">
            <a:off x="2313882" y="2442090"/>
            <a:ext cx="25579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D4727B2D-CDC9-4EBA-8EE8-768ECBEF7068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rot="5400000">
            <a:off x="222562" y="1957328"/>
            <a:ext cx="918851" cy="230782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DC16B83B-36C0-440B-918A-15697ABEA10D}"/>
                  </a:ext>
                </a:extLst>
              </p:cNvPr>
              <p:cNvSpPr/>
              <p:nvPr/>
            </p:nvSpPr>
            <p:spPr>
              <a:xfrm>
                <a:off x="3492509" y="3815353"/>
                <a:ext cx="6931512" cy="41602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BK4 (Input Grads)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Source: 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Fwd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K2 &amp; K5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𝑓𝑖𝑛𝑎𝑙</m:t>
                                  </m:r>
                                </m:sup>
                              </m:sSubSup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]=</m:t>
                              </m:r>
                              <m:func>
                                <m:funcPr>
                                  <m:ctrlPr>
                                    <a:rPr lang="en-US" altLang="zh-CN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𝑒𝑛𝑑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func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⊙</m:t>
                              </m:r>
                              <m:sSubSup>
                                <m:sSubSup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𝑓𝑖𝑛𝑎𝑙</m:t>
                                  </m:r>
                                </m:sup>
                              </m:sSubSup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]⊙</m:t>
                              </m:r>
                              <m:func>
                                <m:funcPr>
                                  <m:ctrlP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𝑒𝑛𝑑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𝑄</m:t>
                                      </m:r>
                                      <m:r>
                                        <a:rPr lang="en-US" altLang="zh-CN" sz="1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⊙</m:t>
                              </m:r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𝑠𝑡𝑎𝑡𝑒</m:t>
                              </m:r>
                              <m:sSup>
                                <m:sSup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𝐶𝐵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⊙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Mask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casaul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⊙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decay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]∗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[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CN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,]⊙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  <m:r>
                                <m:rPr>
                                  <m:nor/>
                                </m:rPr>
                                <a:rPr lang="en-US" altLang="zh-CN" sz="1400" dirty="0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𝑂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⊙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⊙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𝑆𝑖𝐿𝑈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—————————————————————————————————————</a:t>
                </a:r>
              </a:p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𝑃𝑎𝑟𝑡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1: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e>
                              </m:d>
                              <m: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⊙</m:t>
                              </m:r>
                              <m:func>
                                <m:funcPr>
                                  <m:ctrlPr>
                                    <a:rPr lang="en-US" altLang="zh-CN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𝑒𝑛𝑑</m:t>
                                          </m:r>
                                        </m:sup>
                                      </m:sSubSup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𝑄</m:t>
                                      </m:r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𝑓𝑖𝑛𝑎𝑙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𝑃𝑎𝑟𝑡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2: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𝐶𝐵</m:t>
                                      </m:r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⊙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Mask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casaul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⊙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M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1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decay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e>
                              </m:d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⊙</m:t>
                      </m:r>
                      <m:r>
                        <m:rPr>
                          <m:sty m:val="p"/>
                        </m:rPr>
                        <a:rPr lang="en-US" altLang="zh-C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⊙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𝑑𝐷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=∑</m:t>
                      </m:r>
                      <m:d>
                        <m:d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altLang="zh-CN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⊙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4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Griid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(Q//M * P//N, batch*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nchunks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, </a:t>
                </a:r>
                <a:r>
                  <a:rPr lang="en-US" altLang="zh-CN" sz="1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nheads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)</a:t>
                </a:r>
                <a:endPara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DC16B83B-36C0-440B-918A-15697ABEA1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509" y="3815353"/>
                <a:ext cx="6931512" cy="4160241"/>
              </a:xfrm>
              <a:prstGeom prst="rect">
                <a:avLst/>
              </a:prstGeom>
              <a:blipFill>
                <a:blip r:embed="rId8"/>
                <a:stretch>
                  <a:fillRect b="-181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DA8F3C90-ED26-4858-A02E-C17260EAD816}"/>
              </a:ext>
            </a:extLst>
          </p:cNvPr>
          <p:cNvCxnSpPr>
            <a:cxnSpLocks/>
          </p:cNvCxnSpPr>
          <p:nvPr/>
        </p:nvCxnSpPr>
        <p:spPr>
          <a:xfrm>
            <a:off x="7828187" y="2651814"/>
            <a:ext cx="0" cy="11798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C55F8E3B-00C2-46B6-8124-6FE662362A71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313881" y="4678489"/>
            <a:ext cx="117862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DE4E409B-36DA-4438-B7BE-8EA981B0A5D9}"/>
                  </a:ext>
                </a:extLst>
              </p:cNvPr>
              <p:cNvSpPr/>
              <p:nvPr/>
            </p:nvSpPr>
            <p:spPr>
              <a:xfrm>
                <a:off x="2441777" y="4468763"/>
                <a:ext cx="888439" cy="4194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DE4E409B-36DA-4438-B7BE-8EA981B0A5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777" y="4468763"/>
                <a:ext cx="888439" cy="419450"/>
              </a:xfrm>
              <a:prstGeom prst="rect">
                <a:avLst/>
              </a:prstGeom>
              <a:blipFill>
                <a:blip r:embed="rId9"/>
                <a:stretch>
                  <a:fillRect l="-3401" b="-422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组合 85">
            <a:extLst>
              <a:ext uri="{FF2B5EF4-FFF2-40B4-BE49-F238E27FC236}">
                <a16:creationId xmlns:a16="http://schemas.microsoft.com/office/drawing/2014/main" id="{3B94047A-6095-44B3-A14C-9FEF3FF4F8CC}"/>
              </a:ext>
            </a:extLst>
          </p:cNvPr>
          <p:cNvGrpSpPr/>
          <p:nvPr/>
        </p:nvGrpSpPr>
        <p:grpSpPr>
          <a:xfrm>
            <a:off x="-1514872" y="1665991"/>
            <a:ext cx="2071391" cy="1265223"/>
            <a:chOff x="-1514872" y="1665991"/>
            <a:chExt cx="2071391" cy="126522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7E6B6F15-4C67-403C-87ED-B65B42B84B2F}"/>
                    </a:ext>
                  </a:extLst>
                </p:cNvPr>
                <p:cNvSpPr/>
                <p:nvPr/>
              </p:nvSpPr>
              <p:spPr>
                <a:xfrm>
                  <a:off x="-1514872" y="1665991"/>
                  <a:ext cx="772133" cy="558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𝑓𝑖𝑛𝑎𝑙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7E6B6F15-4C67-403C-87ED-B65B42B84B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14872" y="1665991"/>
                  <a:ext cx="772133" cy="558800"/>
                </a:xfrm>
                <a:prstGeom prst="rect">
                  <a:avLst/>
                </a:prstGeom>
                <a:blipFill>
                  <a:blip r:embed="rId10"/>
                  <a:stretch>
                    <a:fillRect l="-155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C1D60D11-B0EA-4AAB-B545-C25FA081D81B}"/>
                    </a:ext>
                  </a:extLst>
                </p:cNvPr>
                <p:cNvSpPr/>
                <p:nvPr/>
              </p:nvSpPr>
              <p:spPr>
                <a:xfrm>
                  <a:off x="-1514871" y="2372414"/>
                  <a:ext cx="772132" cy="558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𝑓𝑖𝑛𝑎𝑙</m:t>
                            </m:r>
                          </m:sup>
                        </m:sSubSup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C1D60D11-B0EA-4AAB-B545-C25FA081D8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14871" y="2372414"/>
                  <a:ext cx="772132" cy="558800"/>
                </a:xfrm>
                <a:prstGeom prst="rect">
                  <a:avLst/>
                </a:prstGeom>
                <a:blipFill>
                  <a:blip r:embed="rId11"/>
                  <a:stretch>
                    <a:fillRect l="-155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B8E18AD6-BD51-4D74-B262-E25E4B52DC29}"/>
                    </a:ext>
                  </a:extLst>
                </p:cNvPr>
                <p:cNvSpPr/>
                <p:nvPr/>
              </p:nvSpPr>
              <p:spPr>
                <a:xfrm>
                  <a:off x="-215614" y="1665991"/>
                  <a:ext cx="772133" cy="558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B8E18AD6-BD51-4D74-B262-E25E4B52DC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15614" y="1665991"/>
                  <a:ext cx="772133" cy="5588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460976A4-AB10-4CB4-B862-1608F2BF55F5}"/>
                    </a:ext>
                  </a:extLst>
                </p:cNvPr>
                <p:cNvSpPr/>
                <p:nvPr/>
              </p:nvSpPr>
              <p:spPr>
                <a:xfrm>
                  <a:off x="-215613" y="2372414"/>
                  <a:ext cx="772132" cy="558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460976A4-AB10-4CB4-B862-1608F2BF55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15613" y="2372414"/>
                  <a:ext cx="772132" cy="5588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连接符: 曲线 77">
              <a:extLst>
                <a:ext uri="{FF2B5EF4-FFF2-40B4-BE49-F238E27FC236}">
                  <a16:creationId xmlns:a16="http://schemas.microsoft.com/office/drawing/2014/main" id="{8E7C844F-53E5-417F-A777-BEBC7971A1CD}"/>
                </a:ext>
              </a:extLst>
            </p:cNvPr>
            <p:cNvCxnSpPr>
              <a:cxnSpLocks/>
              <a:stCxn id="76" idx="1"/>
              <a:endCxn id="74" idx="2"/>
            </p:cNvCxnSpPr>
            <p:nvPr/>
          </p:nvCxnSpPr>
          <p:spPr>
            <a:xfrm rot="10800000" flipV="1">
              <a:off x="-1128805" y="2651814"/>
              <a:ext cx="913192" cy="279400"/>
            </a:xfrm>
            <a:prstGeom prst="curvedConnector4">
              <a:avLst>
                <a:gd name="adj1" fmla="val 28862"/>
                <a:gd name="adj2" fmla="val 181818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连接符: 曲线 80">
              <a:extLst>
                <a:ext uri="{FF2B5EF4-FFF2-40B4-BE49-F238E27FC236}">
                  <a16:creationId xmlns:a16="http://schemas.microsoft.com/office/drawing/2014/main" id="{0AF1928B-464F-463C-A20B-B534867F71C8}"/>
                </a:ext>
              </a:extLst>
            </p:cNvPr>
            <p:cNvCxnSpPr>
              <a:stCxn id="74" idx="1"/>
              <a:endCxn id="73" idx="1"/>
            </p:cNvCxnSpPr>
            <p:nvPr/>
          </p:nvCxnSpPr>
          <p:spPr>
            <a:xfrm rot="10800000">
              <a:off x="-1514871" y="1945392"/>
              <a:ext cx="1" cy="706423"/>
            </a:xfrm>
            <a:prstGeom prst="curvedConnector3">
              <a:avLst>
                <a:gd name="adj1" fmla="val 22860100000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连接符: 曲线 82">
              <a:extLst>
                <a:ext uri="{FF2B5EF4-FFF2-40B4-BE49-F238E27FC236}">
                  <a16:creationId xmlns:a16="http://schemas.microsoft.com/office/drawing/2014/main" id="{821B9724-9485-4245-AD6E-353D9C9F4FAA}"/>
                </a:ext>
              </a:extLst>
            </p:cNvPr>
            <p:cNvCxnSpPr>
              <a:cxnSpLocks/>
              <a:stCxn id="75" idx="1"/>
              <a:endCxn id="73" idx="0"/>
            </p:cNvCxnSpPr>
            <p:nvPr/>
          </p:nvCxnSpPr>
          <p:spPr>
            <a:xfrm rot="10800000">
              <a:off x="-1128804" y="1665991"/>
              <a:ext cx="913191" cy="279400"/>
            </a:xfrm>
            <a:prstGeom prst="curvedConnector4">
              <a:avLst>
                <a:gd name="adj1" fmla="val 28862"/>
                <a:gd name="adj2" fmla="val 18181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连接符: 曲线 88">
            <a:extLst>
              <a:ext uri="{FF2B5EF4-FFF2-40B4-BE49-F238E27FC236}">
                <a16:creationId xmlns:a16="http://schemas.microsoft.com/office/drawing/2014/main" id="{18CC0801-8DFD-441F-8AEE-3D38E023B261}"/>
              </a:ext>
            </a:extLst>
          </p:cNvPr>
          <p:cNvCxnSpPr>
            <a:stCxn id="17" idx="1"/>
            <a:endCxn id="75" idx="3"/>
          </p:cNvCxnSpPr>
          <p:nvPr/>
        </p:nvCxnSpPr>
        <p:spPr>
          <a:xfrm rot="10800000">
            <a:off x="556520" y="1945392"/>
            <a:ext cx="801397" cy="496699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曲线 90">
            <a:extLst>
              <a:ext uri="{FF2B5EF4-FFF2-40B4-BE49-F238E27FC236}">
                <a16:creationId xmlns:a16="http://schemas.microsoft.com/office/drawing/2014/main" id="{8562792D-12BE-4641-A3B4-D7D53B07EA49}"/>
              </a:ext>
            </a:extLst>
          </p:cNvPr>
          <p:cNvCxnSpPr>
            <a:cxnSpLocks/>
            <a:stCxn id="15" idx="1"/>
            <a:endCxn id="74" idx="1"/>
          </p:cNvCxnSpPr>
          <p:nvPr/>
        </p:nvCxnSpPr>
        <p:spPr>
          <a:xfrm rot="10800000" flipH="1">
            <a:off x="-3257735" y="2651815"/>
            <a:ext cx="1742863" cy="2026675"/>
          </a:xfrm>
          <a:prstGeom prst="curvedConnector3">
            <a:avLst>
              <a:gd name="adj1" fmla="val -13116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906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315</Words>
  <Application>Microsoft Office PowerPoint</Application>
  <PresentationFormat>宽屏</PresentationFormat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曹 龙</dc:creator>
  <cp:lastModifiedBy>曹 龙</cp:lastModifiedBy>
  <cp:revision>19</cp:revision>
  <dcterms:created xsi:type="dcterms:W3CDTF">2026-02-06T12:33:19Z</dcterms:created>
  <dcterms:modified xsi:type="dcterms:W3CDTF">2026-02-07T14:20:55Z</dcterms:modified>
</cp:coreProperties>
</file>